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03825" y="2517459"/>
            <a:ext cx="2277000" cy="9690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Passar els</a:t>
            </a:r>
            <a:r>
              <a:rPr lang="ca" sz="800"/>
              <a:t> protocols de proves</a:t>
            </a:r>
            <a:endParaRPr sz="800"/>
          </a:p>
        </p:txBody>
      </p:sp>
      <p:sp>
        <p:nvSpPr>
          <p:cNvPr id="55" name="Google Shape;55;p13"/>
          <p:cNvSpPr/>
          <p:nvPr/>
        </p:nvSpPr>
        <p:spPr>
          <a:xfrm>
            <a:off x="-817925" y="-776675"/>
            <a:ext cx="714300" cy="962700"/>
          </a:xfrm>
          <a:prstGeom prst="foldedCorner">
            <a:avLst>
              <a:gd fmla="val 3303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Fitxa </a:t>
            </a:r>
            <a:r>
              <a:rPr lang="ca" sz="800"/>
              <a:t>de client</a:t>
            </a:r>
            <a:endParaRPr sz="800"/>
          </a:p>
        </p:txBody>
      </p:sp>
      <p:sp>
        <p:nvSpPr>
          <p:cNvPr id="56" name="Google Shape;56;p13"/>
          <p:cNvSpPr/>
          <p:nvPr/>
        </p:nvSpPr>
        <p:spPr>
          <a:xfrm>
            <a:off x="218396" y="-543675"/>
            <a:ext cx="1087200" cy="465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Establir requisits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Llista aclariments</a:t>
            </a:r>
            <a:endParaRPr sz="800"/>
          </a:p>
        </p:txBody>
      </p:sp>
      <p:sp>
        <p:nvSpPr>
          <p:cNvPr id="57" name="Google Shape;57;p13"/>
          <p:cNvSpPr/>
          <p:nvPr/>
        </p:nvSpPr>
        <p:spPr>
          <a:xfrm>
            <a:off x="1627618" y="-1062425"/>
            <a:ext cx="819900" cy="1406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Revisió</a:t>
            </a:r>
            <a:endParaRPr sz="80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318" y="-1004175"/>
            <a:ext cx="714300" cy="7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893" y="-289875"/>
            <a:ext cx="635350" cy="2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5559182" y="-528275"/>
            <a:ext cx="1087200" cy="465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Redactar documents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de l’oferta</a:t>
            </a:r>
            <a:endParaRPr sz="800"/>
          </a:p>
        </p:txBody>
      </p:sp>
      <p:grpSp>
        <p:nvGrpSpPr>
          <p:cNvPr id="61" name="Google Shape;61;p13"/>
          <p:cNvGrpSpPr/>
          <p:nvPr/>
        </p:nvGrpSpPr>
        <p:grpSpPr>
          <a:xfrm>
            <a:off x="6968404" y="-929075"/>
            <a:ext cx="1019100" cy="1267500"/>
            <a:chOff x="5397000" y="1762350"/>
            <a:chExt cx="1019100" cy="1267500"/>
          </a:xfrm>
        </p:grpSpPr>
        <p:sp>
          <p:nvSpPr>
            <p:cNvPr id="62" name="Google Shape;62;p13"/>
            <p:cNvSpPr/>
            <p:nvPr/>
          </p:nvSpPr>
          <p:spPr>
            <a:xfrm>
              <a:off x="5397000" y="1762350"/>
              <a:ext cx="714300" cy="962700"/>
            </a:xfrm>
            <a:prstGeom prst="foldedCorner">
              <a:avLst>
                <a:gd fmla="val 33039" name="adj"/>
              </a:avLst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5549400" y="1914750"/>
              <a:ext cx="714300" cy="962700"/>
            </a:xfrm>
            <a:prstGeom prst="foldedCorner">
              <a:avLst>
                <a:gd fmla="val 33039" name="adj"/>
              </a:avLst>
            </a:prstGeom>
            <a:solidFill>
              <a:srgbClr val="CC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5701800" y="2067150"/>
              <a:ext cx="714300" cy="962700"/>
            </a:xfrm>
            <a:prstGeom prst="foldedCorner">
              <a:avLst>
                <a:gd fmla="val 33039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800"/>
                <a:t>Documents de l’oferta</a:t>
              </a:r>
              <a:endParaRPr sz="800"/>
            </a:p>
          </p:txBody>
        </p:sp>
      </p:grpSp>
      <p:sp>
        <p:nvSpPr>
          <p:cNvPr id="65" name="Google Shape;65;p13"/>
          <p:cNvSpPr/>
          <p:nvPr/>
        </p:nvSpPr>
        <p:spPr>
          <a:xfrm>
            <a:off x="328825" y="700575"/>
            <a:ext cx="819900" cy="465900"/>
          </a:xfrm>
          <a:prstGeom prst="wedgeRectCallout">
            <a:avLst>
              <a:gd fmla="val 13618" name="adj1"/>
              <a:gd fmla="val -214177" name="adj2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ESTEM AQUÍ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-1045425" y="2517300"/>
            <a:ext cx="2064300" cy="465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Implementació del sistema /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Configuració dels equips</a:t>
            </a:r>
            <a:endParaRPr sz="800"/>
          </a:p>
        </p:txBody>
      </p:sp>
      <p:sp>
        <p:nvSpPr>
          <p:cNvPr id="67" name="Google Shape;67;p13"/>
          <p:cNvSpPr/>
          <p:nvPr/>
        </p:nvSpPr>
        <p:spPr>
          <a:xfrm>
            <a:off x="4149961" y="-528275"/>
            <a:ext cx="1087200" cy="465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Disseny de la solució</a:t>
            </a:r>
            <a:endParaRPr sz="800"/>
          </a:p>
        </p:txBody>
      </p:sp>
      <p:grpSp>
        <p:nvGrpSpPr>
          <p:cNvPr id="68" name="Google Shape;68;p13"/>
          <p:cNvGrpSpPr/>
          <p:nvPr/>
        </p:nvGrpSpPr>
        <p:grpSpPr>
          <a:xfrm>
            <a:off x="2769539" y="-1062425"/>
            <a:ext cx="1058400" cy="1406700"/>
            <a:chOff x="3143425" y="283900"/>
            <a:chExt cx="1058400" cy="1406700"/>
          </a:xfrm>
        </p:grpSpPr>
        <p:sp>
          <p:nvSpPr>
            <p:cNvPr id="69" name="Google Shape;69;p13"/>
            <p:cNvSpPr/>
            <p:nvPr/>
          </p:nvSpPr>
          <p:spPr>
            <a:xfrm>
              <a:off x="3143425" y="283900"/>
              <a:ext cx="1058400" cy="14067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700000" dist="38100">
                <a:srgbClr val="000000"/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800"/>
                <a:t>Resolució de dubtes</a:t>
              </a:r>
              <a:endParaRPr sz="800"/>
            </a:p>
          </p:txBody>
        </p:sp>
        <p:pic>
          <p:nvPicPr>
            <p:cNvPr id="70" name="Google Shape;70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08663" y="342150"/>
              <a:ext cx="936425" cy="68097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1" name="Google Shape;71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59211" y="1056450"/>
              <a:ext cx="635337" cy="292071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2" name="Google Shape;72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44825" y="342150"/>
              <a:ext cx="264096" cy="292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13"/>
          <p:cNvSpPr/>
          <p:nvPr/>
        </p:nvSpPr>
        <p:spPr>
          <a:xfrm>
            <a:off x="-1045425" y="3020475"/>
            <a:ext cx="2064300" cy="465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Disseny de protocols de proves</a:t>
            </a:r>
            <a:endParaRPr sz="800"/>
          </a:p>
        </p:txBody>
      </p:sp>
      <p:grpSp>
        <p:nvGrpSpPr>
          <p:cNvPr id="74" name="Google Shape;74;p13"/>
          <p:cNvGrpSpPr/>
          <p:nvPr/>
        </p:nvGrpSpPr>
        <p:grpSpPr>
          <a:xfrm>
            <a:off x="8309525" y="-998675"/>
            <a:ext cx="819900" cy="1406700"/>
            <a:chOff x="7619125" y="347650"/>
            <a:chExt cx="819900" cy="1406700"/>
          </a:xfrm>
        </p:grpSpPr>
        <p:sp>
          <p:nvSpPr>
            <p:cNvPr id="75" name="Google Shape;75;p13"/>
            <p:cNvSpPr/>
            <p:nvPr/>
          </p:nvSpPr>
          <p:spPr>
            <a:xfrm>
              <a:off x="7619125" y="347650"/>
              <a:ext cx="819900" cy="14067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700000" dist="38100">
                <a:srgbClr val="000000"/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800"/>
                <a:t>Aprovació</a:t>
              </a:r>
              <a:endParaRPr sz="800"/>
            </a:p>
          </p:txBody>
        </p:sp>
        <p:pic>
          <p:nvPicPr>
            <p:cNvPr id="76" name="Google Shape;76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11400" y="1120200"/>
              <a:ext cx="635350" cy="292067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7" name="Google Shape;77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706275" y="376525"/>
              <a:ext cx="645608" cy="714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78" name="Google Shape;78;p13"/>
          <p:cNvGrpSpPr/>
          <p:nvPr/>
        </p:nvGrpSpPr>
        <p:grpSpPr>
          <a:xfrm>
            <a:off x="1478825" y="2517434"/>
            <a:ext cx="1058400" cy="969000"/>
            <a:chOff x="1936800" y="3144650"/>
            <a:chExt cx="1058400" cy="969000"/>
          </a:xfrm>
        </p:grpSpPr>
        <p:sp>
          <p:nvSpPr>
            <p:cNvPr id="79" name="Google Shape;79;p13"/>
            <p:cNvSpPr/>
            <p:nvPr/>
          </p:nvSpPr>
          <p:spPr>
            <a:xfrm>
              <a:off x="1936800" y="3144650"/>
              <a:ext cx="1058400" cy="9690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700000" dist="38100">
                <a:srgbClr val="000000"/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800"/>
                <a:t>Seguiment</a:t>
              </a:r>
              <a:endParaRPr sz="800"/>
            </a:p>
          </p:txBody>
        </p:sp>
        <p:pic>
          <p:nvPicPr>
            <p:cNvPr id="80" name="Google Shape;80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02038" y="3203286"/>
              <a:ext cx="936425" cy="68548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81" name="Google Shape;81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38200" y="3203286"/>
              <a:ext cx="264096" cy="2941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13"/>
          <p:cNvSpPr/>
          <p:nvPr/>
        </p:nvSpPr>
        <p:spPr>
          <a:xfrm>
            <a:off x="2997050" y="2588687"/>
            <a:ext cx="640200" cy="681000"/>
          </a:xfrm>
          <a:prstGeom prst="foldedCorner">
            <a:avLst>
              <a:gd fmla="val 33039" name="adj"/>
            </a:avLst>
          </a:prstGeom>
          <a:solidFill>
            <a:schemeClr val="lt2"/>
          </a:solidFill>
          <a:ln cap="flat" cmpd="sng" w="7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50" lIns="67850" spcFirstLastPara="1" rIns="67850" wrap="square" tIns="6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594">
                <a:solidFill>
                  <a:schemeClr val="dk1"/>
                </a:solidFill>
              </a:rPr>
              <a:t>Proves </a:t>
            </a:r>
            <a:endParaRPr sz="594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594">
                <a:solidFill>
                  <a:schemeClr val="dk1"/>
                </a:solidFill>
              </a:rPr>
              <a:t>unitàries</a:t>
            </a:r>
            <a:endParaRPr sz="594"/>
          </a:p>
        </p:txBody>
      </p:sp>
      <p:sp>
        <p:nvSpPr>
          <p:cNvPr id="83" name="Google Shape;83;p13"/>
          <p:cNvSpPr/>
          <p:nvPr/>
        </p:nvSpPr>
        <p:spPr>
          <a:xfrm>
            <a:off x="3701758" y="2588687"/>
            <a:ext cx="666600" cy="681000"/>
          </a:xfrm>
          <a:prstGeom prst="foldedCorner">
            <a:avLst>
              <a:gd fmla="val 33039" name="adj"/>
            </a:avLst>
          </a:prstGeom>
          <a:solidFill>
            <a:schemeClr val="lt2"/>
          </a:solidFill>
          <a:ln cap="flat" cmpd="sng" w="7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50" lIns="67850" spcFirstLastPara="1" rIns="67850" wrap="square" tIns="6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594">
                <a:solidFill>
                  <a:schemeClr val="dk1"/>
                </a:solidFill>
              </a:rPr>
              <a:t>Proves d’integració</a:t>
            </a:r>
            <a:endParaRPr sz="594"/>
          </a:p>
        </p:txBody>
      </p:sp>
      <p:sp>
        <p:nvSpPr>
          <p:cNvPr id="84" name="Google Shape;84;p13"/>
          <p:cNvSpPr/>
          <p:nvPr/>
        </p:nvSpPr>
        <p:spPr>
          <a:xfrm>
            <a:off x="4432781" y="2588687"/>
            <a:ext cx="666600" cy="681000"/>
          </a:xfrm>
          <a:prstGeom prst="foldedCorner">
            <a:avLst>
              <a:gd fmla="val 33039" name="adj"/>
            </a:avLst>
          </a:prstGeom>
          <a:solidFill>
            <a:schemeClr val="lt2"/>
          </a:solidFill>
          <a:ln cap="flat" cmpd="sng" w="7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50" lIns="67850" spcFirstLastPara="1" rIns="67850" wrap="square" tIns="6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594">
                <a:solidFill>
                  <a:schemeClr val="dk1"/>
                </a:solidFill>
              </a:rPr>
              <a:t>Proves d’acceptació</a:t>
            </a:r>
            <a:endParaRPr sz="594"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547425" y="2298609"/>
            <a:ext cx="819900" cy="1406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Auditoria interna</a:t>
            </a:r>
            <a:endParaRPr sz="800"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9700" y="3071159"/>
            <a:ext cx="635350" cy="29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7">
            <a:alphaModFix/>
          </a:blip>
          <a:srcRect b="49631" l="13818" r="13839" t="2141"/>
          <a:stretch/>
        </p:blipFill>
        <p:spPr>
          <a:xfrm>
            <a:off x="5600225" y="2356859"/>
            <a:ext cx="7143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8109825" y="2298609"/>
            <a:ext cx="1058400" cy="1406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Acceptació</a:t>
            </a:r>
            <a:endParaRPr sz="800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5063" y="2356859"/>
            <a:ext cx="936425" cy="68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611" y="3071159"/>
            <a:ext cx="635337" cy="292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11225" y="2356859"/>
            <a:ext cx="264096" cy="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-162300" y="-4568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303625" y="-4568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2447525" y="-4568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207825" y="-4568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6646375" y="-4568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011850" y="-4414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58563" y="2855834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2576775" y="2855834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5200163" y="2855834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6694973" y="2769009"/>
            <a:ext cx="1087200" cy="465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00"/>
              <a:t>Preparació de l’entrega</a:t>
            </a:r>
            <a:endParaRPr sz="800"/>
          </a:p>
        </p:txBody>
      </p:sp>
      <p:sp>
        <p:nvSpPr>
          <p:cNvPr id="102" name="Google Shape;102;p13"/>
          <p:cNvSpPr/>
          <p:nvPr/>
        </p:nvSpPr>
        <p:spPr>
          <a:xfrm>
            <a:off x="6414238" y="2855834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7823563" y="2855834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-838125" y="-1702075"/>
            <a:ext cx="49005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2"/>
                </a:solidFill>
              </a:rPr>
              <a:t>Setmana 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-838125" y="-1994275"/>
            <a:ext cx="10073100" cy="292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/>
              <a:t>OFERTA</a:t>
            </a:r>
            <a:endParaRPr b="1" sz="1800"/>
          </a:p>
        </p:txBody>
      </p:sp>
      <p:sp>
        <p:nvSpPr>
          <p:cNvPr id="106" name="Google Shape;106;p13"/>
          <p:cNvSpPr/>
          <p:nvPr/>
        </p:nvSpPr>
        <p:spPr>
          <a:xfrm>
            <a:off x="-1045425" y="1552850"/>
            <a:ext cx="7633200" cy="2922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PROJECTE</a:t>
            </a:r>
            <a:endParaRPr b="1"/>
          </a:p>
        </p:txBody>
      </p:sp>
      <p:sp>
        <p:nvSpPr>
          <p:cNvPr id="107" name="Google Shape;107;p13"/>
          <p:cNvSpPr/>
          <p:nvPr/>
        </p:nvSpPr>
        <p:spPr>
          <a:xfrm>
            <a:off x="6587900" y="1552850"/>
            <a:ext cx="2646900" cy="2922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ENTREGA</a:t>
            </a:r>
            <a:endParaRPr b="1"/>
          </a:p>
        </p:txBody>
      </p:sp>
      <p:sp>
        <p:nvSpPr>
          <p:cNvPr id="108" name="Google Shape;108;p13"/>
          <p:cNvSpPr txBox="1"/>
          <p:nvPr/>
        </p:nvSpPr>
        <p:spPr>
          <a:xfrm>
            <a:off x="4062375" y="-1702075"/>
            <a:ext cx="5167800" cy="400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2"/>
                </a:solidFill>
              </a:rPr>
              <a:t>Setmana 2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9" name="Google Shape;109;p13"/>
          <p:cNvCxnSpPr/>
          <p:nvPr/>
        </p:nvCxnSpPr>
        <p:spPr>
          <a:xfrm>
            <a:off x="4062225" y="-1702075"/>
            <a:ext cx="0" cy="233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" name="Google Shape;110;p13"/>
          <p:cNvSpPr/>
          <p:nvPr/>
        </p:nvSpPr>
        <p:spPr>
          <a:xfrm>
            <a:off x="3813000" y="-456825"/>
            <a:ext cx="380700" cy="292200"/>
          </a:xfrm>
          <a:prstGeom prst="rightArrow">
            <a:avLst>
              <a:gd fmla="val 50000" name="adj1"/>
              <a:gd fmla="val 68634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r="27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13"/>
          <p:cNvCxnSpPr>
            <a:stCxn id="105" idx="3"/>
          </p:cNvCxnSpPr>
          <p:nvPr/>
        </p:nvCxnSpPr>
        <p:spPr>
          <a:xfrm>
            <a:off x="9234975" y="-1848175"/>
            <a:ext cx="0" cy="250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2" name="Google Shape;112;p13"/>
          <p:cNvSpPr txBox="1"/>
          <p:nvPr/>
        </p:nvSpPr>
        <p:spPr>
          <a:xfrm>
            <a:off x="-1045425" y="1845050"/>
            <a:ext cx="1671300" cy="4002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2"/>
                </a:solidFill>
              </a:rPr>
              <a:t>Setmana 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625875" y="1845050"/>
            <a:ext cx="3315000" cy="400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2"/>
                </a:solidFill>
              </a:rPr>
              <a:t>Setmana 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3940873" y="1845050"/>
            <a:ext cx="26469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2"/>
                </a:solidFill>
              </a:rPr>
              <a:t>Setmana 5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15" name="Google Shape;115;p13"/>
          <p:cNvCxnSpPr/>
          <p:nvPr/>
        </p:nvCxnSpPr>
        <p:spPr>
          <a:xfrm>
            <a:off x="625657" y="1834659"/>
            <a:ext cx="0" cy="233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3"/>
          <p:cNvCxnSpPr/>
          <p:nvPr/>
        </p:nvCxnSpPr>
        <p:spPr>
          <a:xfrm>
            <a:off x="3940963" y="1834659"/>
            <a:ext cx="0" cy="233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7" name="Google Shape;117;p13"/>
          <p:cNvSpPr txBox="1"/>
          <p:nvPr/>
        </p:nvSpPr>
        <p:spPr>
          <a:xfrm>
            <a:off x="6588075" y="1845050"/>
            <a:ext cx="2646900" cy="4002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2"/>
                </a:solidFill>
              </a:rPr>
              <a:t>Setmana 6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18" name="Google Shape;118;p13"/>
          <p:cNvCxnSpPr>
            <a:stCxn id="107" idx="1"/>
          </p:cNvCxnSpPr>
          <p:nvPr/>
        </p:nvCxnSpPr>
        <p:spPr>
          <a:xfrm>
            <a:off x="6587900" y="1698950"/>
            <a:ext cx="0" cy="249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3"/>
          <p:cNvCxnSpPr>
            <a:stCxn id="107" idx="3"/>
          </p:cNvCxnSpPr>
          <p:nvPr/>
        </p:nvCxnSpPr>
        <p:spPr>
          <a:xfrm>
            <a:off x="9234800" y="1698950"/>
            <a:ext cx="0" cy="251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